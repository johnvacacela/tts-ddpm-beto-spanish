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9" r:id="rId3"/>
    <p:sldId id="260" r:id="rId4"/>
    <p:sldId id="268" r:id="rId5"/>
    <p:sldId id="269" r:id="rId6"/>
    <p:sldId id="270" r:id="rId7"/>
    <p:sldId id="271" r:id="rId8"/>
    <p:sldId id="272" r:id="rId9"/>
    <p:sldId id="273" r:id="rId10"/>
  </p:sldIdLst>
  <p:sldSz cx="9144000" cy="5143500" type="screen16x9"/>
  <p:notesSz cx="6858000" cy="9144000"/>
  <p:defaultTextStyle>
    <a:defPPr>
      <a:defRPr lang="es-EC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7D4F6"/>
    <a:srgbClr val="EAF3FF"/>
    <a:srgbClr val="3366FF"/>
    <a:srgbClr val="F7F7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8" autoAdjust="0"/>
    <p:restoredTop sz="95036" autoAdjust="0"/>
  </p:normalViewPr>
  <p:slideViewPr>
    <p:cSldViewPr snapToGrid="0">
      <p:cViewPr>
        <p:scale>
          <a:sx n="125" d="100"/>
          <a:sy n="125" d="100"/>
        </p:scale>
        <p:origin x="1230" y="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freepik.com/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713160" y="1014480"/>
            <a:ext cx="5601960" cy="2219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Google Shape;11;p2"/>
          <p:cNvSpPr/>
          <p:nvPr/>
        </p:nvSpPr>
        <p:spPr>
          <a:xfrm>
            <a:off x="8291160" y="0"/>
            <a:ext cx="852480" cy="514332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4" name="Google Shape;12;p2"/>
          <p:cNvGrpSpPr/>
          <p:nvPr/>
        </p:nvGrpSpPr>
        <p:grpSpPr>
          <a:xfrm>
            <a:off x="-55080" y="539280"/>
            <a:ext cx="9198720" cy="4604040"/>
            <a:chOff x="-55080" y="539280"/>
            <a:chExt cx="9198720" cy="4604040"/>
          </a:xfrm>
        </p:grpSpPr>
        <p:cxnSp>
          <p:nvCxnSpPr>
            <p:cNvPr id="5" name="Google Shape;13;p2"/>
            <p:cNvCxnSpPr/>
            <p:nvPr/>
          </p:nvCxnSpPr>
          <p:spPr>
            <a:xfrm>
              <a:off x="-55080" y="4608360"/>
              <a:ext cx="4870800" cy="36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  <p:cxnSp>
          <p:nvCxnSpPr>
            <p:cNvPr id="6" name="Google Shape;14;p2"/>
            <p:cNvCxnSpPr/>
            <p:nvPr/>
          </p:nvCxnSpPr>
          <p:spPr>
            <a:xfrm>
              <a:off x="4751640" y="539280"/>
              <a:ext cx="4392360" cy="36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  <p:cxnSp>
          <p:nvCxnSpPr>
            <p:cNvPr id="7" name="Google Shape;15;p2"/>
            <p:cNvCxnSpPr/>
            <p:nvPr/>
          </p:nvCxnSpPr>
          <p:spPr>
            <a:xfrm flipV="1">
              <a:off x="8430480" y="804960"/>
              <a:ext cx="360" cy="433872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</p:grp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133;p20"/>
          <p:cNvGrpSpPr/>
          <p:nvPr/>
        </p:nvGrpSpPr>
        <p:grpSpPr>
          <a:xfrm>
            <a:off x="0" y="0"/>
            <a:ext cx="9144000" cy="5143320"/>
            <a:chOff x="0" y="0"/>
            <a:chExt cx="9144000" cy="5143320"/>
          </a:xfrm>
        </p:grpSpPr>
        <p:sp>
          <p:nvSpPr>
            <p:cNvPr id="10" name="Google Shape;134;p20"/>
            <p:cNvSpPr/>
            <p:nvPr/>
          </p:nvSpPr>
          <p:spPr>
            <a:xfrm>
              <a:off x="4186080" y="4426560"/>
              <a:ext cx="4957920" cy="710640"/>
            </a:xfrm>
            <a:prstGeom prst="rect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" name="Google Shape;135;p20"/>
            <p:cNvSpPr/>
            <p:nvPr/>
          </p:nvSpPr>
          <p:spPr>
            <a:xfrm>
              <a:off x="0" y="0"/>
              <a:ext cx="852480" cy="5143320"/>
            </a:xfrm>
            <a:prstGeom prst="rect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082400" y="544320"/>
            <a:ext cx="4223880" cy="120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13" name="Google Shape;138;p20"/>
          <p:cNvGrpSpPr/>
          <p:nvPr/>
        </p:nvGrpSpPr>
        <p:grpSpPr>
          <a:xfrm>
            <a:off x="0" y="539280"/>
            <a:ext cx="8430480" cy="4604040"/>
            <a:chOff x="0" y="539280"/>
            <a:chExt cx="8430480" cy="4604040"/>
          </a:xfrm>
        </p:grpSpPr>
        <p:cxnSp>
          <p:nvCxnSpPr>
            <p:cNvPr id="14" name="Google Shape;139;p20"/>
            <p:cNvCxnSpPr/>
            <p:nvPr/>
          </p:nvCxnSpPr>
          <p:spPr>
            <a:xfrm flipV="1">
              <a:off x="8430480" y="804960"/>
              <a:ext cx="360" cy="433872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  <p:cxnSp>
          <p:nvCxnSpPr>
            <p:cNvPr id="15" name="Google Shape;140;p20"/>
            <p:cNvCxnSpPr/>
            <p:nvPr/>
          </p:nvCxnSpPr>
          <p:spPr>
            <a:xfrm flipH="1">
              <a:off x="0" y="539280"/>
              <a:ext cx="4337280" cy="36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</p:grp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592200" y="544320"/>
            <a:ext cx="3311640" cy="3883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70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body"/>
          </p:nvPr>
        </p:nvSpPr>
        <p:spPr>
          <a:xfrm>
            <a:off x="1691280" y="1759320"/>
            <a:ext cx="5761440" cy="2092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8" name="PlaceHolder 2"/>
          <p:cNvSpPr>
            <a:spLocks noGrp="1"/>
          </p:cNvSpPr>
          <p:nvPr>
            <p:ph type="title"/>
          </p:nvPr>
        </p:nvSpPr>
        <p:spPr>
          <a:xfrm>
            <a:off x="713160" y="470520"/>
            <a:ext cx="7717320" cy="549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9" name="Google Shape;145;p21"/>
          <p:cNvSpPr/>
          <p:nvPr/>
        </p:nvSpPr>
        <p:spPr>
          <a:xfrm flipH="1">
            <a:off x="-720" y="4875840"/>
            <a:ext cx="9143640" cy="26712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20" name="Google Shape;146;p21"/>
          <p:cNvGrpSpPr/>
          <p:nvPr/>
        </p:nvGrpSpPr>
        <p:grpSpPr>
          <a:xfrm>
            <a:off x="276480" y="267120"/>
            <a:ext cx="8860320" cy="4876200"/>
            <a:chOff x="276480" y="267120"/>
            <a:chExt cx="8860320" cy="4876200"/>
          </a:xfrm>
        </p:grpSpPr>
        <p:cxnSp>
          <p:nvCxnSpPr>
            <p:cNvPr id="21" name="Google Shape;147;p21"/>
            <p:cNvCxnSpPr/>
            <p:nvPr/>
          </p:nvCxnSpPr>
          <p:spPr>
            <a:xfrm flipV="1">
              <a:off x="276480" y="2571840"/>
              <a:ext cx="360" cy="257184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  <p:cxnSp>
          <p:nvCxnSpPr>
            <p:cNvPr id="22" name="Google Shape;148;p21"/>
            <p:cNvCxnSpPr/>
            <p:nvPr/>
          </p:nvCxnSpPr>
          <p:spPr>
            <a:xfrm>
              <a:off x="4564800" y="267120"/>
              <a:ext cx="4572360" cy="36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948240" y="1185480"/>
            <a:ext cx="4862880" cy="803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4" name="Google Shape;152;p22"/>
          <p:cNvSpPr/>
          <p:nvPr/>
        </p:nvSpPr>
        <p:spPr>
          <a:xfrm rot="10800000" flipH="1">
            <a:off x="8291520" y="360"/>
            <a:ext cx="852480" cy="514332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25" name="Google Shape;153;p22"/>
          <p:cNvGrpSpPr/>
          <p:nvPr/>
        </p:nvGrpSpPr>
        <p:grpSpPr>
          <a:xfrm>
            <a:off x="-55080" y="0"/>
            <a:ext cx="9198720" cy="4603680"/>
            <a:chOff x="-55080" y="0"/>
            <a:chExt cx="9198720" cy="4603680"/>
          </a:xfrm>
        </p:grpSpPr>
        <p:cxnSp>
          <p:nvCxnSpPr>
            <p:cNvPr id="26" name="Google Shape;154;p22"/>
            <p:cNvCxnSpPr/>
            <p:nvPr/>
          </p:nvCxnSpPr>
          <p:spPr>
            <a:xfrm>
              <a:off x="-55080" y="534600"/>
              <a:ext cx="4571640" cy="36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  <p:cxnSp>
          <p:nvCxnSpPr>
            <p:cNvPr id="27" name="Google Shape;155;p22"/>
            <p:cNvCxnSpPr/>
            <p:nvPr/>
          </p:nvCxnSpPr>
          <p:spPr>
            <a:xfrm>
              <a:off x="4584960" y="4603680"/>
              <a:ext cx="4559040" cy="36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  <p:cxnSp>
          <p:nvCxnSpPr>
            <p:cNvPr id="28" name="Google Shape;156;p22"/>
            <p:cNvCxnSpPr/>
            <p:nvPr/>
          </p:nvCxnSpPr>
          <p:spPr>
            <a:xfrm>
              <a:off x="8430480" y="0"/>
              <a:ext cx="360" cy="433836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</p:grp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8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2654640" y="530280"/>
            <a:ext cx="3834360" cy="1107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31" name="Google Shape;261;p32"/>
          <p:cNvGrpSpPr/>
          <p:nvPr/>
        </p:nvGrpSpPr>
        <p:grpSpPr>
          <a:xfrm>
            <a:off x="713520" y="2579400"/>
            <a:ext cx="8430480" cy="2563920"/>
            <a:chOff x="713520" y="2579400"/>
            <a:chExt cx="8430480" cy="2563920"/>
          </a:xfrm>
        </p:grpSpPr>
        <p:cxnSp>
          <p:nvCxnSpPr>
            <p:cNvPr id="32" name="Google Shape;262;p32"/>
            <p:cNvCxnSpPr/>
            <p:nvPr/>
          </p:nvCxnSpPr>
          <p:spPr>
            <a:xfrm>
              <a:off x="2838960" y="4875840"/>
              <a:ext cx="6305400" cy="36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  <p:cxnSp>
          <p:nvCxnSpPr>
            <p:cNvPr id="33" name="Google Shape;263;p32"/>
            <p:cNvCxnSpPr/>
            <p:nvPr/>
          </p:nvCxnSpPr>
          <p:spPr>
            <a:xfrm flipV="1">
              <a:off x="713520" y="2579400"/>
              <a:ext cx="360" cy="256428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</p:grpSp>
      <p:sp>
        <p:nvSpPr>
          <p:cNvPr id="34" name="Google Shape;264;p32"/>
          <p:cNvSpPr/>
          <p:nvPr/>
        </p:nvSpPr>
        <p:spPr>
          <a:xfrm>
            <a:off x="2654640" y="3304440"/>
            <a:ext cx="3834360" cy="793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Commissioner"/>
                <a:ea typeface="Commissioner"/>
              </a:rPr>
              <a:t>Credits: This presentation template was created by </a:t>
            </a:r>
            <a:r>
              <a:rPr lang="en" sz="1200" b="1" u="sng" strike="noStrike">
                <a:solidFill>
                  <a:schemeClr val="dk1"/>
                </a:solidFill>
                <a:effectLst/>
                <a:uFillTx/>
                <a:latin typeface="Commissioner"/>
                <a:ea typeface="Commissioner"/>
                <a:hlinkClick r:id="rId2"/>
              </a:rPr>
              <a:t>Slidesgo</a:t>
            </a: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Commissioner"/>
                <a:ea typeface="Commissioner"/>
              </a:rPr>
              <a:t>, and includes icons, infographics &amp; images by </a:t>
            </a:r>
            <a:r>
              <a:rPr lang="en" sz="1200" b="1" u="sng" strike="noStrike">
                <a:solidFill>
                  <a:schemeClr val="dk1"/>
                </a:solidFill>
                <a:effectLst/>
                <a:uFillTx/>
                <a:latin typeface="Commissioner"/>
                <a:ea typeface="Commissioner"/>
                <a:hlinkClick r:id="rId3"/>
              </a:rPr>
              <a:t>Freepik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713160" y="470520"/>
            <a:ext cx="7717320" cy="549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6" name="Google Shape;39;p6"/>
          <p:cNvSpPr/>
          <p:nvPr/>
        </p:nvSpPr>
        <p:spPr>
          <a:xfrm>
            <a:off x="0" y="0"/>
            <a:ext cx="283320" cy="514332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37" name="Google Shape;40;p6"/>
          <p:cNvGrpSpPr/>
          <p:nvPr/>
        </p:nvGrpSpPr>
        <p:grpSpPr>
          <a:xfrm>
            <a:off x="141840" y="0"/>
            <a:ext cx="9001800" cy="4875840"/>
            <a:chOff x="141840" y="0"/>
            <a:chExt cx="9001800" cy="4875840"/>
          </a:xfrm>
        </p:grpSpPr>
        <p:cxnSp>
          <p:nvCxnSpPr>
            <p:cNvPr id="38" name="Google Shape;41;p6"/>
            <p:cNvCxnSpPr/>
            <p:nvPr/>
          </p:nvCxnSpPr>
          <p:spPr>
            <a:xfrm>
              <a:off x="4576320" y="4875840"/>
              <a:ext cx="4567680" cy="36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  <p:cxnSp>
          <p:nvCxnSpPr>
            <p:cNvPr id="39" name="Google Shape;42;p6"/>
            <p:cNvCxnSpPr/>
            <p:nvPr/>
          </p:nvCxnSpPr>
          <p:spPr>
            <a:xfrm flipV="1">
              <a:off x="141840" y="0"/>
              <a:ext cx="360" cy="395856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</p:grp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C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media" Target="../media/media2.wav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6" Type="http://schemas.openxmlformats.org/officeDocument/2006/relationships/image" Target="../media/image10.png"/><Relationship Id="rId5" Type="http://schemas.openxmlformats.org/officeDocument/2006/relationships/slideLayout" Target="../slideLayouts/slideLayout6.xml"/><Relationship Id="rId4" Type="http://schemas.openxmlformats.org/officeDocument/2006/relationships/audio" Target="../media/media2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ángulo 40"/>
          <p:cNvSpPr/>
          <p:nvPr/>
        </p:nvSpPr>
        <p:spPr>
          <a:xfrm>
            <a:off x="241107" y="526284"/>
            <a:ext cx="3227378" cy="201498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100" b="1" u="none" strike="noStrike" dirty="0">
                <a:solidFill>
                  <a:srgbClr val="0A0A0A"/>
                </a:solidFill>
                <a:effectLst/>
                <a:uFillTx/>
                <a:latin typeface="Golos Text"/>
              </a:rPr>
              <a:t>Demo del </a:t>
            </a: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100" b="1" u="none" strike="noStrike" dirty="0">
                <a:solidFill>
                  <a:srgbClr val="0A0A0A"/>
                </a:solidFill>
                <a:effectLst/>
                <a:uFillTx/>
                <a:latin typeface="Golos Text"/>
              </a:rPr>
              <a:t>Sistema TTS </a:t>
            </a: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100" b="1" u="none" strike="noStrike" dirty="0">
                <a:solidFill>
                  <a:srgbClr val="0A0A0A"/>
                </a:solidFill>
                <a:effectLst/>
                <a:uFillTx/>
                <a:latin typeface="Golos Text"/>
              </a:rPr>
              <a:t>DDPM+BETO</a:t>
            </a:r>
            <a:endParaRPr lang="en-US" sz="4100" b="1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2" name="Rectángulo 41"/>
          <p:cNvSpPr/>
          <p:nvPr/>
        </p:nvSpPr>
        <p:spPr>
          <a:xfrm>
            <a:off x="241106" y="2657603"/>
            <a:ext cx="3407487" cy="72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lnSpcReduction="9999"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s-MX" sz="1500" dirty="0">
                <a:solidFill>
                  <a:srgbClr val="0A0A0A"/>
                </a:solidFill>
                <a:latin typeface="Commissioner"/>
              </a:rPr>
              <a:t>FastPitch adaptado al español + BETO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s-MX" sz="1500" dirty="0">
                <a:solidFill>
                  <a:srgbClr val="0A0A0A"/>
                </a:solidFill>
                <a:latin typeface="Commissioner"/>
              </a:rPr>
              <a:t>PitchDiffusion + </a:t>
            </a:r>
            <a:r>
              <a:rPr lang="es-MX" sz="1500" dirty="0" err="1">
                <a:solidFill>
                  <a:srgbClr val="0A0A0A"/>
                </a:solidFill>
                <a:latin typeface="Commissioner"/>
              </a:rPr>
              <a:t>HiFi</a:t>
            </a:r>
            <a:r>
              <a:rPr lang="es-MX" sz="1500" dirty="0">
                <a:solidFill>
                  <a:srgbClr val="0A0A0A"/>
                </a:solidFill>
                <a:latin typeface="Commissioner"/>
              </a:rPr>
              <a:t>-GAN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769AF6B-85D2-160B-F247-DEF5E31C4762}"/>
              </a:ext>
            </a:extLst>
          </p:cNvPr>
          <p:cNvSpPr/>
          <p:nvPr/>
        </p:nvSpPr>
        <p:spPr>
          <a:xfrm>
            <a:off x="241105" y="4642269"/>
            <a:ext cx="3407487" cy="37169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s-MX" sz="1200" b="1" dirty="0">
                <a:solidFill>
                  <a:srgbClr val="0A0A0A"/>
                </a:solidFill>
                <a:latin typeface="Commissioner"/>
              </a:rPr>
              <a:t>John Erick Vacacela Betancourt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A3F95F8-E297-8F6F-16EF-A42AD78E61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8613" y="1193417"/>
            <a:ext cx="4187570" cy="2928371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3889A714-80CE-A58A-5AB4-B0DBF104B872}"/>
              </a:ext>
            </a:extLst>
          </p:cNvPr>
          <p:cNvSpPr/>
          <p:nvPr/>
        </p:nvSpPr>
        <p:spPr>
          <a:xfrm>
            <a:off x="241106" y="3649936"/>
            <a:ext cx="3407487" cy="72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s-MX" sz="1200" dirty="0">
                <a:solidFill>
                  <a:srgbClr val="0A0A0A"/>
                </a:solidFill>
                <a:latin typeface="Commissioner"/>
              </a:rPr>
              <a:t>Flujo de inferencia: texto → mel-espectrograma → 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s-MX" sz="1200" dirty="0">
                <a:solidFill>
                  <a:srgbClr val="0A0A0A"/>
                </a:solidFill>
                <a:latin typeface="Commissioner"/>
              </a:rPr>
              <a:t>Audio sintetizado.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ángulo 50"/>
          <p:cNvSpPr/>
          <p:nvPr/>
        </p:nvSpPr>
        <p:spPr>
          <a:xfrm>
            <a:off x="587117" y="286397"/>
            <a:ext cx="3541538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70000" lnSpcReduction="20000"/>
          </a:bodyPr>
          <a:lstStyle/>
          <a:p>
            <a:pPr>
              <a:tabLst>
                <a:tab pos="0" algn="l"/>
              </a:tabLst>
            </a:pPr>
            <a:r>
              <a:rPr lang="es-MX" sz="2400" b="1" u="none" strike="noStrike" dirty="0">
                <a:solidFill>
                  <a:srgbClr val="000000"/>
                </a:solidFill>
                <a:effectLst/>
                <a:uFillTx/>
                <a:latin typeface="OpenSymbol"/>
              </a:rPr>
              <a:t>Repositorio y módulos del sistema</a:t>
            </a:r>
            <a:endParaRPr lang="en-US" sz="2400" b="1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2" name="Rectángulo 51"/>
          <p:cNvSpPr/>
          <p:nvPr/>
        </p:nvSpPr>
        <p:spPr>
          <a:xfrm>
            <a:off x="3960699" y="1102866"/>
            <a:ext cx="3619080" cy="2590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lnSpcReduction="9999"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10A9811-ED3B-2609-BA37-D0BA432247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883" y="1230798"/>
            <a:ext cx="3318499" cy="3385541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07F765F7-4F45-2BAC-5E9F-5DCAC75EC890}"/>
              </a:ext>
            </a:extLst>
          </p:cNvPr>
          <p:cNvSpPr txBox="1"/>
          <p:nvPr/>
        </p:nvSpPr>
        <p:spPr>
          <a:xfrm>
            <a:off x="587117" y="568722"/>
            <a:ext cx="804426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400" dirty="0">
                <a:latin typeface="OpenSymbol"/>
              </a:rPr>
              <a:t>El repositorio sigue el flujo metodológico del sistema TTS: preparar datos, entrenar modelos, generar audio y evaluar resultados.</a:t>
            </a:r>
            <a:endParaRPr lang="es-EC" sz="1400" dirty="0">
              <a:latin typeface="OpenSymbol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A9878CC-75C4-425B-7B4F-A6A8110492EF}"/>
              </a:ext>
            </a:extLst>
          </p:cNvPr>
          <p:cNvSpPr txBox="1"/>
          <p:nvPr/>
        </p:nvSpPr>
        <p:spPr>
          <a:xfrm>
            <a:off x="587117" y="1230800"/>
            <a:ext cx="4578926" cy="33855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C" sz="1400" b="1" dirty="0">
                <a:latin typeface="OpenSymbol"/>
              </a:rPr>
              <a:t>01_preprocessing</a:t>
            </a:r>
          </a:p>
          <a:p>
            <a:r>
              <a:rPr lang="es-EC" sz="1400" dirty="0">
                <a:latin typeface="OpenSymbol"/>
              </a:rPr>
              <a:t>Preparación del corpus, texto, IPA, F0 y características acústicas.</a:t>
            </a:r>
          </a:p>
          <a:p>
            <a:endParaRPr lang="es-EC" sz="1400" dirty="0">
              <a:latin typeface="OpenSymbol"/>
            </a:endParaRPr>
          </a:p>
          <a:p>
            <a:r>
              <a:rPr lang="es-EC" sz="1400" b="1" dirty="0">
                <a:latin typeface="OpenSymbol"/>
              </a:rPr>
              <a:t>02_fastpitch_baseline</a:t>
            </a:r>
          </a:p>
          <a:p>
            <a:r>
              <a:rPr lang="es-EC" sz="1400" dirty="0">
                <a:latin typeface="OpenSymbol"/>
              </a:rPr>
              <a:t>Modelo base adaptado al español con representación IPA.</a:t>
            </a:r>
          </a:p>
          <a:p>
            <a:endParaRPr lang="es-EC" sz="1400" dirty="0">
              <a:latin typeface="OpenSymbol"/>
            </a:endParaRPr>
          </a:p>
          <a:p>
            <a:r>
              <a:rPr lang="es-EC" sz="1400" b="1" dirty="0">
                <a:latin typeface="OpenSymbol"/>
              </a:rPr>
              <a:t>03_modelo_propuesto</a:t>
            </a:r>
          </a:p>
          <a:p>
            <a:r>
              <a:rPr lang="es-EC" sz="1400" dirty="0">
                <a:latin typeface="OpenSymbol"/>
              </a:rPr>
              <a:t>FastPitch + BETO + predictor de pitch por difusión.</a:t>
            </a:r>
          </a:p>
          <a:p>
            <a:endParaRPr lang="es-EC" sz="1400" dirty="0">
              <a:latin typeface="OpenSymbol"/>
            </a:endParaRPr>
          </a:p>
          <a:p>
            <a:r>
              <a:rPr lang="es-EC" sz="1400" b="1" dirty="0">
                <a:latin typeface="OpenSymbol"/>
              </a:rPr>
              <a:t>04_hifigan_vocoder</a:t>
            </a:r>
          </a:p>
          <a:p>
            <a:r>
              <a:rPr lang="es-EC" sz="1400" dirty="0">
                <a:latin typeface="OpenSymbol"/>
              </a:rPr>
              <a:t>Conversión de </a:t>
            </a:r>
            <a:r>
              <a:rPr lang="es-EC" sz="1400" dirty="0" err="1">
                <a:latin typeface="OpenSymbol"/>
              </a:rPr>
              <a:t>mel</a:t>
            </a:r>
            <a:r>
              <a:rPr lang="es-EC" sz="1400" dirty="0">
                <a:latin typeface="OpenSymbol"/>
              </a:rPr>
              <a:t>-espectrogramas a audio .</a:t>
            </a:r>
            <a:r>
              <a:rPr lang="es-EC" sz="1400" dirty="0" err="1">
                <a:latin typeface="OpenSymbol"/>
              </a:rPr>
              <a:t>wav</a:t>
            </a:r>
            <a:r>
              <a:rPr lang="es-EC" sz="1400" dirty="0">
                <a:latin typeface="OpenSymbol"/>
              </a:rPr>
              <a:t>.</a:t>
            </a:r>
          </a:p>
          <a:p>
            <a:endParaRPr lang="es-EC" sz="1400" dirty="0">
              <a:latin typeface="OpenSymbol"/>
            </a:endParaRPr>
          </a:p>
          <a:p>
            <a:r>
              <a:rPr lang="es-EC" sz="1400" b="1" dirty="0">
                <a:latin typeface="OpenSymbol"/>
              </a:rPr>
              <a:t>05_evaluation</a:t>
            </a:r>
          </a:p>
          <a:p>
            <a:r>
              <a:rPr lang="es-EC" sz="1400" dirty="0">
                <a:latin typeface="OpenSymbol"/>
              </a:rPr>
              <a:t>Métricas objetivas y evaluación subjetiva</a:t>
            </a:r>
            <a:endParaRPr lang="es-EC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ángulo 52"/>
          <p:cNvSpPr/>
          <p:nvPr/>
        </p:nvSpPr>
        <p:spPr>
          <a:xfrm>
            <a:off x="1188360" y="983985"/>
            <a:ext cx="6766560" cy="834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s-MX" sz="1400" dirty="0">
                <a:latin typeface="OpenSymbol"/>
              </a:rPr>
              <a:t>El sistema recibe frases nuevas en español. El texto se procesa en dos caminos: IPA para la pronunciación y el texto original para BETO.</a:t>
            </a:r>
            <a:endParaRPr lang="en-US" sz="1400" dirty="0">
              <a:latin typeface="OpenSymbol"/>
            </a:endParaRPr>
          </a:p>
        </p:txBody>
      </p:sp>
      <p:sp>
        <p:nvSpPr>
          <p:cNvPr id="54" name="Rectángulo 53"/>
          <p:cNvSpPr/>
          <p:nvPr/>
        </p:nvSpPr>
        <p:spPr>
          <a:xfrm>
            <a:off x="714240" y="466560"/>
            <a:ext cx="7714800" cy="390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70000" lnSpcReduction="2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100" b="0" u="none" strike="noStrike" dirty="0">
                <a:solidFill>
                  <a:srgbClr val="0A0A0A"/>
                </a:solidFill>
                <a:effectLst/>
                <a:uFillTx/>
                <a:latin typeface="Golos Text"/>
              </a:rPr>
              <a:t>Entrada del Demo</a:t>
            </a:r>
            <a:endParaRPr lang="en-US" sz="31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046BEAF-92D8-36D9-1AEA-9478449D1A64}"/>
              </a:ext>
            </a:extLst>
          </p:cNvPr>
          <p:cNvSpPr/>
          <p:nvPr/>
        </p:nvSpPr>
        <p:spPr>
          <a:xfrm>
            <a:off x="1476960" y="2736360"/>
            <a:ext cx="3848460" cy="69258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  <a:latin typeface="OpenSymbol"/>
              </a:rPr>
              <a:t>Los boletos </a:t>
            </a:r>
            <a:r>
              <a:rPr lang="en-US" sz="1400" dirty="0" err="1">
                <a:solidFill>
                  <a:schemeClr val="tx1"/>
                </a:solidFill>
                <a:latin typeface="OpenSymbol"/>
              </a:rPr>
              <a:t>cuestan</a:t>
            </a:r>
            <a:r>
              <a:rPr lang="en-US" sz="1400" dirty="0">
                <a:solidFill>
                  <a:schemeClr val="tx1"/>
                </a:solidFill>
                <a:latin typeface="OpenSymbol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OpenSymbol"/>
              </a:rPr>
              <a:t>alrededor</a:t>
            </a:r>
            <a:r>
              <a:rPr lang="en-US" sz="1400" dirty="0">
                <a:solidFill>
                  <a:schemeClr val="tx1"/>
                </a:solidFill>
                <a:latin typeface="OpenSymbol"/>
              </a:rPr>
              <a:t> de </a:t>
            </a:r>
            <a:r>
              <a:rPr lang="en-US" sz="1400" dirty="0" err="1">
                <a:solidFill>
                  <a:schemeClr val="tx1"/>
                </a:solidFill>
                <a:latin typeface="OpenSymbol"/>
              </a:rPr>
              <a:t>tres</a:t>
            </a:r>
            <a:r>
              <a:rPr lang="en-US" sz="1400" dirty="0">
                <a:solidFill>
                  <a:schemeClr val="tx1"/>
                </a:solidFill>
                <a:latin typeface="OpenSymbol"/>
              </a:rPr>
              <a:t> mil pesos </a:t>
            </a:r>
            <a:r>
              <a:rPr lang="en-US" sz="1400" dirty="0" err="1">
                <a:solidFill>
                  <a:schemeClr val="tx1"/>
                </a:solidFill>
                <a:latin typeface="OpenSymbol"/>
              </a:rPr>
              <a:t>mexicanos</a:t>
            </a:r>
            <a:r>
              <a:rPr lang="en-US" sz="1400" dirty="0">
                <a:solidFill>
                  <a:schemeClr val="tx1"/>
                </a:solidFill>
                <a:latin typeface="OpenSymbol"/>
              </a:rPr>
              <a:t>.</a:t>
            </a:r>
            <a:endParaRPr lang="es-EC" sz="1400" dirty="0">
              <a:solidFill>
                <a:schemeClr val="tx1"/>
              </a:solidFill>
              <a:latin typeface="OpenSymbol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F040BF63-4625-6B23-1C9D-68F396BB2DF8}"/>
              </a:ext>
            </a:extLst>
          </p:cNvPr>
          <p:cNvSpPr/>
          <p:nvPr/>
        </p:nvSpPr>
        <p:spPr>
          <a:xfrm>
            <a:off x="1400040" y="2379900"/>
            <a:ext cx="1198380" cy="3409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s-MX" sz="1100" dirty="0">
                <a:latin typeface="OpenSymbol"/>
              </a:rPr>
              <a:t>Texto de entrada</a:t>
            </a:r>
            <a:endParaRPr lang="en-US" sz="1100" dirty="0">
              <a:latin typeface="OpenSymbol"/>
            </a:endParaRP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3F11B320-638A-70A3-71CF-86708E16E465}"/>
              </a:ext>
            </a:extLst>
          </p:cNvPr>
          <p:cNvCxnSpPr/>
          <p:nvPr/>
        </p:nvCxnSpPr>
        <p:spPr>
          <a:xfrm>
            <a:off x="1900410" y="2354519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ángulo 11">
            <a:extLst>
              <a:ext uri="{FF2B5EF4-FFF2-40B4-BE49-F238E27FC236}">
                <a16:creationId xmlns:a16="http://schemas.microsoft.com/office/drawing/2014/main" id="{51868E75-3DCD-8ECD-E787-AA82D4C12D95}"/>
              </a:ext>
            </a:extLst>
          </p:cNvPr>
          <p:cNvSpPr/>
          <p:nvPr/>
        </p:nvSpPr>
        <p:spPr>
          <a:xfrm>
            <a:off x="5681250" y="2453340"/>
            <a:ext cx="1969230" cy="39024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tx1"/>
                </a:solidFill>
                <a:latin typeface="OpenSymbol"/>
              </a:rPr>
              <a:t>Secuencia</a:t>
            </a:r>
            <a:r>
              <a:rPr lang="en-US" sz="1400" dirty="0">
                <a:solidFill>
                  <a:schemeClr val="tx1"/>
                </a:solidFill>
                <a:latin typeface="OpenSymbol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OpenSymbol"/>
              </a:rPr>
              <a:t>fonética</a:t>
            </a:r>
            <a:r>
              <a:rPr lang="en-US" sz="1400" dirty="0">
                <a:solidFill>
                  <a:schemeClr val="tx1"/>
                </a:solidFill>
                <a:latin typeface="OpenSymbol"/>
              </a:rPr>
              <a:t> (IPA)</a:t>
            </a:r>
            <a:endParaRPr lang="es-EC" sz="1400" dirty="0">
              <a:solidFill>
                <a:schemeClr val="tx1"/>
              </a:solidFill>
              <a:latin typeface="OpenSymbol"/>
            </a:endParaRP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46596CC0-D23C-C2FC-73CA-D28B06F712B5}"/>
              </a:ext>
            </a:extLst>
          </p:cNvPr>
          <p:cNvSpPr/>
          <p:nvPr/>
        </p:nvSpPr>
        <p:spPr>
          <a:xfrm>
            <a:off x="5681250" y="3233820"/>
            <a:ext cx="1969230" cy="39024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tx1"/>
                </a:solidFill>
                <a:latin typeface="OpenSymbol"/>
              </a:rPr>
              <a:t>Texto</a:t>
            </a:r>
            <a:r>
              <a:rPr lang="en-US" sz="1400" dirty="0">
                <a:solidFill>
                  <a:schemeClr val="tx1"/>
                </a:solidFill>
                <a:latin typeface="OpenSymbol"/>
              </a:rPr>
              <a:t> original para BETO</a:t>
            </a:r>
            <a:endParaRPr lang="es-EC" sz="1400" dirty="0">
              <a:solidFill>
                <a:schemeClr val="tx1"/>
              </a:solidFill>
              <a:latin typeface="OpenSymbol"/>
            </a:endParaRPr>
          </a:p>
        </p:txBody>
      </p: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1001A3F2-321E-3EA1-A598-A8A07E637F4B}"/>
              </a:ext>
            </a:extLst>
          </p:cNvPr>
          <p:cNvCxnSpPr>
            <a:cxnSpLocks/>
            <a:stCxn id="2" idx="3"/>
            <a:endCxn id="12" idx="1"/>
          </p:cNvCxnSpPr>
          <p:nvPr/>
        </p:nvCxnSpPr>
        <p:spPr>
          <a:xfrm flipV="1">
            <a:off x="5325420" y="2648460"/>
            <a:ext cx="355830" cy="43419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11A7A851-828D-D06B-08CF-9571A5A1FC65}"/>
              </a:ext>
            </a:extLst>
          </p:cNvPr>
          <p:cNvCxnSpPr>
            <a:cxnSpLocks/>
            <a:stCxn id="2" idx="3"/>
            <a:endCxn id="15" idx="1"/>
          </p:cNvCxnSpPr>
          <p:nvPr/>
        </p:nvCxnSpPr>
        <p:spPr>
          <a:xfrm>
            <a:off x="5325420" y="3082650"/>
            <a:ext cx="355830" cy="34629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4" name="Rectángulo 23">
            <a:extLst>
              <a:ext uri="{FF2B5EF4-FFF2-40B4-BE49-F238E27FC236}">
                <a16:creationId xmlns:a16="http://schemas.microsoft.com/office/drawing/2014/main" id="{8939E7C1-EC82-027A-58E1-B14AB43AE5DA}"/>
              </a:ext>
            </a:extLst>
          </p:cNvPr>
          <p:cNvSpPr/>
          <p:nvPr/>
        </p:nvSpPr>
        <p:spPr>
          <a:xfrm>
            <a:off x="5595804" y="2081880"/>
            <a:ext cx="1161975" cy="3409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s-MX" sz="1100" dirty="0">
                <a:latin typeface="OpenSymbol"/>
              </a:rPr>
              <a:t>Camino fonético</a:t>
            </a:r>
            <a:endParaRPr lang="en-US" sz="1100" dirty="0">
              <a:latin typeface="OpenSymbol"/>
            </a:endParaRP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14EFC89E-2A46-0506-5670-E0150509EDC7}"/>
              </a:ext>
            </a:extLst>
          </p:cNvPr>
          <p:cNvSpPr/>
          <p:nvPr/>
        </p:nvSpPr>
        <p:spPr>
          <a:xfrm>
            <a:off x="5595804" y="2898735"/>
            <a:ext cx="1300296" cy="3409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s-MX" sz="1100" dirty="0">
                <a:latin typeface="OpenSymbol"/>
              </a:rPr>
              <a:t>Camino semántico</a:t>
            </a:r>
            <a:endParaRPr lang="en-US" sz="1100" dirty="0"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9BC68-30CC-C512-BD5A-3FE4DB210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ángulo 52">
            <a:extLst>
              <a:ext uri="{FF2B5EF4-FFF2-40B4-BE49-F238E27FC236}">
                <a16:creationId xmlns:a16="http://schemas.microsoft.com/office/drawing/2014/main" id="{9CA4C0ED-4297-A4FA-F444-741105C67906}"/>
              </a:ext>
            </a:extLst>
          </p:cNvPr>
          <p:cNvSpPr/>
          <p:nvPr/>
        </p:nvSpPr>
        <p:spPr>
          <a:xfrm>
            <a:off x="546941" y="644943"/>
            <a:ext cx="8050118" cy="834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s-MX" sz="1400" dirty="0">
                <a:latin typeface="OpenSymbol"/>
              </a:rPr>
              <a:t>La misma frase genera dos representaciones complementarias: IPA para pronunciación y BETO para contexto semántico.</a:t>
            </a:r>
            <a:endParaRPr lang="en-US" sz="1400" dirty="0">
              <a:latin typeface="OpenSymbol"/>
            </a:endParaRPr>
          </a:p>
        </p:txBody>
      </p:sp>
      <p:sp>
        <p:nvSpPr>
          <p:cNvPr id="54" name="Rectángulo 53">
            <a:extLst>
              <a:ext uri="{FF2B5EF4-FFF2-40B4-BE49-F238E27FC236}">
                <a16:creationId xmlns:a16="http://schemas.microsoft.com/office/drawing/2014/main" id="{0F3DF006-F762-926B-D500-5CE04851A27C}"/>
              </a:ext>
            </a:extLst>
          </p:cNvPr>
          <p:cNvSpPr/>
          <p:nvPr/>
        </p:nvSpPr>
        <p:spPr>
          <a:xfrm>
            <a:off x="714240" y="399885"/>
            <a:ext cx="7714800" cy="390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70000" lnSpcReduction="2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100" b="0" u="none" strike="noStrike" dirty="0" err="1">
                <a:solidFill>
                  <a:srgbClr val="0A0A0A"/>
                </a:solidFill>
                <a:effectLst/>
                <a:uFillTx/>
                <a:latin typeface="Golos Text"/>
              </a:rPr>
              <a:t>Procesamiento</a:t>
            </a:r>
            <a:r>
              <a:rPr lang="en-US" sz="3100" b="0" u="none" strike="noStrike" dirty="0">
                <a:solidFill>
                  <a:srgbClr val="0A0A0A"/>
                </a:solidFill>
                <a:effectLst/>
                <a:uFillTx/>
                <a:latin typeface="Golos Text"/>
              </a:rPr>
              <a:t> de la entrada</a:t>
            </a:r>
            <a:endParaRPr lang="en-US" sz="31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CEB9DA0D-2AA0-64B3-D49F-A61A83F4CB6D}"/>
              </a:ext>
            </a:extLst>
          </p:cNvPr>
          <p:cNvSpPr/>
          <p:nvPr/>
        </p:nvSpPr>
        <p:spPr>
          <a:xfrm>
            <a:off x="2217060" y="1260748"/>
            <a:ext cx="4579080" cy="39024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  <a:latin typeface="OpenSymbol"/>
              </a:rPr>
              <a:t>Texto</a:t>
            </a:r>
            <a:r>
              <a:rPr lang="en-US" sz="1400" dirty="0">
                <a:solidFill>
                  <a:schemeClr val="tx1"/>
                </a:solidFill>
                <a:latin typeface="OpenSymbol"/>
              </a:rPr>
              <a:t> de entrada </a:t>
            </a:r>
            <a:r>
              <a:rPr lang="en-US" sz="1400" dirty="0" err="1">
                <a:solidFill>
                  <a:schemeClr val="tx1"/>
                </a:solidFill>
                <a:latin typeface="OpenSymbol"/>
              </a:rPr>
              <a:t>normalizado</a:t>
            </a:r>
            <a:endParaRPr lang="es-EC" sz="1400" dirty="0">
              <a:solidFill>
                <a:schemeClr val="tx1"/>
              </a:solidFill>
              <a:latin typeface="OpenSymbol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258F1089-194A-BC22-64A8-33A7FBF4BED0}"/>
              </a:ext>
            </a:extLst>
          </p:cNvPr>
          <p:cNvSpPr/>
          <p:nvPr/>
        </p:nvSpPr>
        <p:spPr>
          <a:xfrm>
            <a:off x="2217060" y="2192220"/>
            <a:ext cx="1969230" cy="39024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tx1"/>
                </a:solidFill>
                <a:latin typeface="OpenSymbol"/>
              </a:rPr>
              <a:t>Conversión</a:t>
            </a:r>
            <a:r>
              <a:rPr lang="en-US" sz="1400" dirty="0">
                <a:solidFill>
                  <a:schemeClr val="tx1"/>
                </a:solidFill>
                <a:latin typeface="OpenSymbol"/>
              </a:rPr>
              <a:t> a IPA</a:t>
            </a:r>
            <a:endParaRPr lang="es-EC" sz="1400" dirty="0">
              <a:solidFill>
                <a:schemeClr val="tx1"/>
              </a:solidFill>
              <a:latin typeface="OpenSymbol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E08F108-3FB3-A0C7-9A22-6D7A206D4CFC}"/>
              </a:ext>
            </a:extLst>
          </p:cNvPr>
          <p:cNvSpPr/>
          <p:nvPr/>
        </p:nvSpPr>
        <p:spPr>
          <a:xfrm>
            <a:off x="2217060" y="2797875"/>
            <a:ext cx="1969230" cy="39024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  <a:latin typeface="OpenSymbol"/>
              </a:rPr>
              <a:t>Tokens </a:t>
            </a:r>
            <a:r>
              <a:rPr lang="en-US" sz="1400" dirty="0" err="1">
                <a:solidFill>
                  <a:schemeClr val="tx1"/>
                </a:solidFill>
                <a:latin typeface="OpenSymbol"/>
              </a:rPr>
              <a:t>fonéticos</a:t>
            </a:r>
            <a:endParaRPr lang="es-EC" sz="1400" dirty="0">
              <a:solidFill>
                <a:schemeClr val="tx1"/>
              </a:solidFill>
              <a:latin typeface="OpenSymbol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145BC9A-0257-7A33-D73E-ADA9A80DB93C}"/>
              </a:ext>
            </a:extLst>
          </p:cNvPr>
          <p:cNvSpPr/>
          <p:nvPr/>
        </p:nvSpPr>
        <p:spPr>
          <a:xfrm>
            <a:off x="2217060" y="3403530"/>
            <a:ext cx="1969230" cy="39024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  <a:latin typeface="OpenSymbol"/>
              </a:rPr>
              <a:t>FastPitch Encoder</a:t>
            </a:r>
            <a:endParaRPr lang="es-EC" sz="1400" dirty="0">
              <a:solidFill>
                <a:schemeClr val="tx1"/>
              </a:solidFill>
              <a:latin typeface="OpenSymbol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80B9AC5A-EBEE-5247-969E-FF3EFC3EDFD9}"/>
              </a:ext>
            </a:extLst>
          </p:cNvPr>
          <p:cNvSpPr/>
          <p:nvPr/>
        </p:nvSpPr>
        <p:spPr>
          <a:xfrm>
            <a:off x="2620687" y="1743563"/>
            <a:ext cx="1161975" cy="3409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s-MX" sz="1100" dirty="0">
                <a:latin typeface="OpenSymbol"/>
              </a:rPr>
              <a:t>Camino fonético</a:t>
            </a:r>
            <a:endParaRPr lang="en-US" sz="1100" dirty="0">
              <a:latin typeface="OpenSymbol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2BF2FB9B-2B15-046E-AA6C-18A6A62C4476}"/>
              </a:ext>
            </a:extLst>
          </p:cNvPr>
          <p:cNvSpPr/>
          <p:nvPr/>
        </p:nvSpPr>
        <p:spPr>
          <a:xfrm>
            <a:off x="4826910" y="2192220"/>
            <a:ext cx="1969230" cy="39024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tx1"/>
                </a:solidFill>
                <a:latin typeface="OpenSymbol"/>
              </a:rPr>
              <a:t>Tokenización</a:t>
            </a:r>
            <a:r>
              <a:rPr lang="en-US" sz="1400" dirty="0">
                <a:solidFill>
                  <a:schemeClr val="tx1"/>
                </a:solidFill>
                <a:latin typeface="OpenSymbol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OpenSymbol"/>
              </a:rPr>
              <a:t>WordPiece</a:t>
            </a:r>
            <a:endParaRPr lang="es-EC" sz="1400" dirty="0">
              <a:solidFill>
                <a:schemeClr val="tx1"/>
              </a:solidFill>
              <a:latin typeface="OpenSymbol"/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40988A69-01BD-6C77-7EAB-81ADC8EABC75}"/>
              </a:ext>
            </a:extLst>
          </p:cNvPr>
          <p:cNvSpPr/>
          <p:nvPr/>
        </p:nvSpPr>
        <p:spPr>
          <a:xfrm>
            <a:off x="4826910" y="2797875"/>
            <a:ext cx="1969230" cy="39024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  <a:latin typeface="OpenSymbol"/>
              </a:rPr>
              <a:t>BETO</a:t>
            </a:r>
            <a:endParaRPr lang="es-EC" sz="1400" dirty="0">
              <a:solidFill>
                <a:schemeClr val="tx1"/>
              </a:solidFill>
              <a:latin typeface="OpenSymbo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ángulo 13">
                <a:extLst>
                  <a:ext uri="{FF2B5EF4-FFF2-40B4-BE49-F238E27FC236}">
                    <a16:creationId xmlns:a16="http://schemas.microsoft.com/office/drawing/2014/main" id="{7D8C9E5B-217E-A9EE-8A5C-40F7DA0A9385}"/>
                  </a:ext>
                </a:extLst>
              </p:cNvPr>
              <p:cNvSpPr/>
              <p:nvPr/>
            </p:nvSpPr>
            <p:spPr>
              <a:xfrm>
                <a:off x="4826910" y="3403530"/>
                <a:ext cx="1969230" cy="39024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2"/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400" dirty="0">
                    <a:solidFill>
                      <a:schemeClr val="tx1"/>
                    </a:solidFill>
                    <a:latin typeface="OpenSymbol"/>
                  </a:rPr>
                  <a:t>Vector semántico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C" sz="1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s-EC" sz="1400" b="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s-EC" sz="1400" b="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sem</m:t>
                        </m:r>
                      </m:sub>
                    </m:sSub>
                  </m:oMath>
                </a14:m>
                <a:endParaRPr lang="es-EC" sz="1400" dirty="0">
                  <a:solidFill>
                    <a:schemeClr val="tx1"/>
                  </a:solidFill>
                  <a:latin typeface="OpenSymbol"/>
                </a:endParaRPr>
              </a:p>
            </p:txBody>
          </p:sp>
        </mc:Choice>
        <mc:Fallback xmlns="">
          <p:sp>
            <p:nvSpPr>
              <p:cNvPr id="14" name="Rectángulo 13">
                <a:extLst>
                  <a:ext uri="{FF2B5EF4-FFF2-40B4-BE49-F238E27FC236}">
                    <a16:creationId xmlns:a16="http://schemas.microsoft.com/office/drawing/2014/main" id="{7D8C9E5B-217E-A9EE-8A5C-40F7DA0A93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6910" y="3403530"/>
                <a:ext cx="1969230" cy="390240"/>
              </a:xfrm>
              <a:prstGeom prst="rect">
                <a:avLst/>
              </a:prstGeom>
              <a:blipFill>
                <a:blip r:embed="rId2"/>
                <a:stretch>
                  <a:fillRect l="-306" b="-2941"/>
                </a:stretch>
              </a:blipFill>
              <a:ln>
                <a:solidFill>
                  <a:schemeClr val="bg2"/>
                </a:solidFill>
                <a:prstDash val="lgDash"/>
              </a:ln>
            </p:spPr>
            <p:txBody>
              <a:bodyPr/>
              <a:lstStyle/>
              <a:p>
                <a:r>
                  <a:rPr lang="es-EC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ángulo 15">
            <a:extLst>
              <a:ext uri="{FF2B5EF4-FFF2-40B4-BE49-F238E27FC236}">
                <a16:creationId xmlns:a16="http://schemas.microsoft.com/office/drawing/2014/main" id="{7230D689-F0E2-22E6-FD55-6D868009E22F}"/>
              </a:ext>
            </a:extLst>
          </p:cNvPr>
          <p:cNvSpPr/>
          <p:nvPr/>
        </p:nvSpPr>
        <p:spPr>
          <a:xfrm>
            <a:off x="5159718" y="1743563"/>
            <a:ext cx="1303613" cy="3409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s-MX" sz="1100" dirty="0">
                <a:latin typeface="OpenSymbol"/>
              </a:rPr>
              <a:t>Camino semántico</a:t>
            </a:r>
            <a:endParaRPr lang="en-US" sz="1100" dirty="0">
              <a:latin typeface="OpenSymbol"/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06C253DD-B192-BF76-3464-BC558854E16B}"/>
              </a:ext>
            </a:extLst>
          </p:cNvPr>
          <p:cNvSpPr txBox="1"/>
          <p:nvPr/>
        </p:nvSpPr>
        <p:spPr>
          <a:xfrm>
            <a:off x="2105745" y="3906982"/>
            <a:ext cx="263770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C" sz="1400" dirty="0">
                <a:latin typeface="OpenSymbol"/>
              </a:rPr>
              <a:t>Objetivo: representar la pronunciación.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505FABC9-25A4-82A5-8734-F65E88F04FBE}"/>
              </a:ext>
            </a:extLst>
          </p:cNvPr>
          <p:cNvSpPr txBox="1"/>
          <p:nvPr/>
        </p:nvSpPr>
        <p:spPr>
          <a:xfrm>
            <a:off x="4743450" y="3906982"/>
            <a:ext cx="263770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C" sz="1400" dirty="0">
                <a:latin typeface="OpenSymbol"/>
              </a:rPr>
              <a:t>Objetivo: capturar el contexto </a:t>
            </a:r>
          </a:p>
          <a:p>
            <a:r>
              <a:rPr lang="es-EC" sz="1400" dirty="0">
                <a:latin typeface="OpenSymbol"/>
              </a:rPr>
              <a:t>de la frase.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uadroTexto 22">
                <a:extLst>
                  <a:ext uri="{FF2B5EF4-FFF2-40B4-BE49-F238E27FC236}">
                    <a16:creationId xmlns:a16="http://schemas.microsoft.com/office/drawing/2014/main" id="{C7EAA8AA-39D3-899D-7999-B7390156B3C3}"/>
                  </a:ext>
                </a:extLst>
              </p:cNvPr>
              <p:cNvSpPr txBox="1"/>
              <p:nvPr/>
            </p:nvSpPr>
            <p:spPr>
              <a:xfrm>
                <a:off x="546941" y="4561151"/>
                <a:ext cx="8506894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EC" sz="1400" b="1" i="1" dirty="0">
                    <a:latin typeface="OpenSymbol"/>
                  </a:rPr>
                  <a:t>El vector semántico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C" sz="1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C" sz="1400" b="1" i="1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es-EC" sz="1400" b="1" i="1">
                            <a:latin typeface="Cambria Math" panose="02040503050406030204" pitchFamily="18" charset="0"/>
                          </a:rPr>
                          <m:t>𝒔𝒆𝒎</m:t>
                        </m:r>
                      </m:sub>
                    </m:sSub>
                  </m:oMath>
                </a14:m>
                <a:r>
                  <a:rPr lang="es-EC" sz="1400" b="1" i="1" dirty="0">
                    <a:latin typeface="OpenSymbol"/>
                  </a:rPr>
                  <a:t> se suma a la salida del codificador fonético.</a:t>
                </a:r>
              </a:p>
            </p:txBody>
          </p:sp>
        </mc:Choice>
        <mc:Fallback xmlns="">
          <p:sp>
            <p:nvSpPr>
              <p:cNvPr id="23" name="CuadroTexto 22">
                <a:extLst>
                  <a:ext uri="{FF2B5EF4-FFF2-40B4-BE49-F238E27FC236}">
                    <a16:creationId xmlns:a16="http://schemas.microsoft.com/office/drawing/2014/main" id="{C7EAA8AA-39D3-899D-7999-B7390156B3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941" y="4561151"/>
                <a:ext cx="8506894" cy="307777"/>
              </a:xfrm>
              <a:prstGeom prst="rect">
                <a:avLst/>
              </a:prstGeom>
              <a:blipFill>
                <a:blip r:embed="rId3"/>
                <a:stretch>
                  <a:fillRect l="-215" t="-3922" b="-19608"/>
                </a:stretch>
              </a:blipFill>
            </p:spPr>
            <p:txBody>
              <a:bodyPr/>
              <a:lstStyle/>
              <a:p>
                <a:r>
                  <a:rPr lang="es-EC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6660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C0319E-53EA-8E94-1004-031084C90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6A57F719-8684-D407-8E63-35205080BC47}"/>
              </a:ext>
            </a:extLst>
          </p:cNvPr>
          <p:cNvSpPr/>
          <p:nvPr/>
        </p:nvSpPr>
        <p:spPr>
          <a:xfrm>
            <a:off x="990289" y="1768713"/>
            <a:ext cx="616843" cy="479904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err="1">
                <a:solidFill>
                  <a:schemeClr val="tx1"/>
                </a:solidFill>
                <a:latin typeface="OpenSymbol"/>
              </a:rPr>
              <a:t>Texto</a:t>
            </a:r>
            <a:endParaRPr lang="es-EC" sz="1400" dirty="0">
              <a:solidFill>
                <a:schemeClr val="tx1"/>
              </a:solidFill>
              <a:latin typeface="OpenSymbol"/>
            </a:endParaRP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50A68378-50C8-F7B8-898E-7EE6CF5876FD}"/>
              </a:ext>
            </a:extLst>
          </p:cNvPr>
          <p:cNvSpPr/>
          <p:nvPr/>
        </p:nvSpPr>
        <p:spPr>
          <a:xfrm>
            <a:off x="1843729" y="1768713"/>
            <a:ext cx="906403" cy="479904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  <a:latin typeface="OpenSymbol"/>
              </a:rPr>
              <a:t>IPA + BETO</a:t>
            </a:r>
            <a:endParaRPr lang="es-EC" sz="1400" dirty="0">
              <a:solidFill>
                <a:schemeClr val="tx1"/>
              </a:solidFill>
              <a:latin typeface="OpenSymbol"/>
            </a:endParaRP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9EF9AE82-FB13-1A41-8853-0DE6AEDB4842}"/>
              </a:ext>
            </a:extLst>
          </p:cNvPr>
          <p:cNvSpPr/>
          <p:nvPr/>
        </p:nvSpPr>
        <p:spPr>
          <a:xfrm>
            <a:off x="2986729" y="1768713"/>
            <a:ext cx="906403" cy="479904"/>
          </a:xfrm>
          <a:prstGeom prst="rect">
            <a:avLst/>
          </a:prstGeom>
          <a:solidFill>
            <a:srgbClr val="EAF3FF"/>
          </a:solidFill>
          <a:ln>
            <a:solidFill>
              <a:srgbClr val="B7D4F6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  <a:latin typeface="OpenSymbol"/>
              </a:rPr>
              <a:t>FastPitch</a:t>
            </a:r>
            <a:endParaRPr lang="es-EC" sz="1400" dirty="0">
              <a:solidFill>
                <a:schemeClr val="tx1"/>
              </a:solidFill>
              <a:latin typeface="OpenSymbol"/>
            </a:endParaRP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FEB1C539-850F-4411-8A9D-E4E225E70DEF}"/>
              </a:ext>
            </a:extLst>
          </p:cNvPr>
          <p:cNvSpPr/>
          <p:nvPr/>
        </p:nvSpPr>
        <p:spPr>
          <a:xfrm>
            <a:off x="4126107" y="1768713"/>
            <a:ext cx="906403" cy="479904"/>
          </a:xfrm>
          <a:prstGeom prst="rect">
            <a:avLst/>
          </a:prstGeom>
          <a:solidFill>
            <a:srgbClr val="EAF3FF"/>
          </a:solidFill>
          <a:ln>
            <a:solidFill>
              <a:srgbClr val="B7D4F6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  <a:latin typeface="OpenSymbol"/>
              </a:rPr>
              <a:t>DDPM/F0</a:t>
            </a:r>
            <a:endParaRPr lang="es-EC" sz="1400" dirty="0">
              <a:solidFill>
                <a:schemeClr val="tx1"/>
              </a:solidFill>
              <a:latin typeface="OpenSymbol"/>
            </a:endParaRP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353EAAC3-1549-D9FB-0EE4-9C2E65E712F7}"/>
              </a:ext>
            </a:extLst>
          </p:cNvPr>
          <p:cNvSpPr/>
          <p:nvPr/>
        </p:nvSpPr>
        <p:spPr>
          <a:xfrm>
            <a:off x="5267009" y="1768713"/>
            <a:ext cx="729243" cy="479904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  <a:latin typeface="OpenSymbol"/>
              </a:rPr>
              <a:t>Mel</a:t>
            </a:r>
            <a:endParaRPr lang="es-EC" sz="1400" dirty="0">
              <a:solidFill>
                <a:schemeClr val="tx1"/>
              </a:solidFill>
              <a:latin typeface="OpenSymbol"/>
            </a:endParaRP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8A719DA3-46EF-6E45-5FFE-9A7992B04319}"/>
              </a:ext>
            </a:extLst>
          </p:cNvPr>
          <p:cNvSpPr/>
          <p:nvPr/>
        </p:nvSpPr>
        <p:spPr>
          <a:xfrm>
            <a:off x="6230751" y="1768713"/>
            <a:ext cx="729243" cy="479904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  <a:latin typeface="OpenSymbol"/>
              </a:rPr>
              <a:t>HiFi-GAN</a:t>
            </a:r>
            <a:endParaRPr lang="es-EC" sz="1400" dirty="0">
              <a:solidFill>
                <a:schemeClr val="tx1"/>
              </a:solidFill>
              <a:latin typeface="OpenSymbol"/>
            </a:endParaRP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97796D2A-1867-54B4-891E-88768D2B6E0C}"/>
              </a:ext>
            </a:extLst>
          </p:cNvPr>
          <p:cNvSpPr/>
          <p:nvPr/>
        </p:nvSpPr>
        <p:spPr>
          <a:xfrm>
            <a:off x="7194493" y="1768713"/>
            <a:ext cx="729243" cy="479904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  <a:latin typeface="OpenSymbol"/>
              </a:rPr>
              <a:t>Audio</a:t>
            </a:r>
            <a:endParaRPr lang="es-EC" sz="1400" dirty="0">
              <a:solidFill>
                <a:schemeClr val="tx1"/>
              </a:solidFill>
              <a:latin typeface="OpenSymbol"/>
            </a:endParaRPr>
          </a:p>
        </p:txBody>
      </p: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8B5A1287-8A40-6E71-9849-400C6D34AF00}"/>
              </a:ext>
            </a:extLst>
          </p:cNvPr>
          <p:cNvCxnSpPr>
            <a:cxnSpLocks/>
          </p:cNvCxnSpPr>
          <p:nvPr/>
        </p:nvCxnSpPr>
        <p:spPr>
          <a:xfrm>
            <a:off x="1660472" y="2008665"/>
            <a:ext cx="152777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8147E77E-145B-9697-67A7-DDD80988DA4E}"/>
              </a:ext>
            </a:extLst>
          </p:cNvPr>
          <p:cNvCxnSpPr>
            <a:cxnSpLocks/>
          </p:cNvCxnSpPr>
          <p:nvPr/>
        </p:nvCxnSpPr>
        <p:spPr>
          <a:xfrm>
            <a:off x="2803949" y="2025759"/>
            <a:ext cx="152777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7FA45CBF-4FAB-82AB-B242-69632EACF76C}"/>
              </a:ext>
            </a:extLst>
          </p:cNvPr>
          <p:cNvCxnSpPr>
            <a:cxnSpLocks/>
          </p:cNvCxnSpPr>
          <p:nvPr/>
        </p:nvCxnSpPr>
        <p:spPr>
          <a:xfrm>
            <a:off x="3935043" y="2025759"/>
            <a:ext cx="152777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EE830C1F-1930-1719-41FA-FB1C99BCDAB3}"/>
              </a:ext>
            </a:extLst>
          </p:cNvPr>
          <p:cNvCxnSpPr>
            <a:cxnSpLocks/>
          </p:cNvCxnSpPr>
          <p:nvPr/>
        </p:nvCxnSpPr>
        <p:spPr>
          <a:xfrm>
            <a:off x="5078042" y="2025759"/>
            <a:ext cx="152777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B540A99A-4CD2-E111-BC57-B6914F81F14F}"/>
              </a:ext>
            </a:extLst>
          </p:cNvPr>
          <p:cNvCxnSpPr>
            <a:cxnSpLocks/>
          </p:cNvCxnSpPr>
          <p:nvPr/>
        </p:nvCxnSpPr>
        <p:spPr>
          <a:xfrm>
            <a:off x="6045019" y="2025759"/>
            <a:ext cx="152777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4CAC62E4-B3A8-58A4-25C9-12591B0F1EAD}"/>
              </a:ext>
            </a:extLst>
          </p:cNvPr>
          <p:cNvCxnSpPr>
            <a:cxnSpLocks/>
          </p:cNvCxnSpPr>
          <p:nvPr/>
        </p:nvCxnSpPr>
        <p:spPr>
          <a:xfrm>
            <a:off x="6999900" y="2036134"/>
            <a:ext cx="152777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9" name="Rectángulo 28">
            <a:extLst>
              <a:ext uri="{FF2B5EF4-FFF2-40B4-BE49-F238E27FC236}">
                <a16:creationId xmlns:a16="http://schemas.microsoft.com/office/drawing/2014/main" id="{4760197F-E285-127C-FDB5-219FABBEAAC9}"/>
              </a:ext>
            </a:extLst>
          </p:cNvPr>
          <p:cNvSpPr/>
          <p:nvPr/>
        </p:nvSpPr>
        <p:spPr>
          <a:xfrm>
            <a:off x="1298710" y="815743"/>
            <a:ext cx="7091393" cy="47990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s-MX" sz="1400" dirty="0">
                <a:latin typeface="OpenSymbol"/>
              </a:rPr>
              <a:t>El sistema transforma el texto procesado en un mel-espectrograma y luego en audio sintetizado.</a:t>
            </a:r>
            <a:endParaRPr lang="en-US" sz="1400" dirty="0">
              <a:latin typeface="OpenSymbol"/>
            </a:endParaRP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504E134D-1637-7675-6679-20D8BC79845F}"/>
              </a:ext>
            </a:extLst>
          </p:cNvPr>
          <p:cNvSpPr/>
          <p:nvPr/>
        </p:nvSpPr>
        <p:spPr>
          <a:xfrm>
            <a:off x="944499" y="2590572"/>
            <a:ext cx="2129270" cy="92084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1" dirty="0">
                <a:solidFill>
                  <a:schemeClr val="tx1"/>
                </a:solidFill>
                <a:latin typeface="OpenSymbol"/>
              </a:rPr>
              <a:t>FastPitch</a:t>
            </a:r>
          </a:p>
          <a:p>
            <a:endParaRPr lang="en-US" sz="1100" dirty="0">
              <a:solidFill>
                <a:schemeClr val="tx1"/>
              </a:solidFill>
              <a:latin typeface="OpenSymbol"/>
            </a:endParaRPr>
          </a:p>
          <a:p>
            <a:r>
              <a:rPr lang="en-US" sz="1100" dirty="0" err="1">
                <a:solidFill>
                  <a:schemeClr val="tx1"/>
                </a:solidFill>
                <a:latin typeface="OpenSymbol"/>
              </a:rPr>
              <a:t>Procesa</a:t>
            </a:r>
            <a:r>
              <a:rPr lang="en-US" sz="1100" dirty="0">
                <a:solidFill>
                  <a:schemeClr val="tx1"/>
                </a:solidFill>
                <a:latin typeface="OpenSymbol"/>
              </a:rPr>
              <a:t> </a:t>
            </a:r>
            <a:r>
              <a:rPr lang="en-US" sz="1100" dirty="0" err="1">
                <a:solidFill>
                  <a:schemeClr val="tx1"/>
                </a:solidFill>
                <a:latin typeface="OpenSymbol"/>
              </a:rPr>
              <a:t>los</a:t>
            </a:r>
            <a:r>
              <a:rPr lang="en-US" sz="1100" dirty="0">
                <a:solidFill>
                  <a:schemeClr val="tx1"/>
                </a:solidFill>
                <a:latin typeface="OpenSymbol"/>
              </a:rPr>
              <a:t> tokens IPA y genera la </a:t>
            </a:r>
            <a:r>
              <a:rPr lang="en-US" sz="1100" dirty="0" err="1">
                <a:solidFill>
                  <a:schemeClr val="tx1"/>
                </a:solidFill>
                <a:latin typeface="OpenSymbol"/>
              </a:rPr>
              <a:t>representación</a:t>
            </a:r>
            <a:r>
              <a:rPr lang="en-US" sz="1100" dirty="0">
                <a:solidFill>
                  <a:schemeClr val="tx1"/>
                </a:solidFill>
                <a:latin typeface="OpenSymbol"/>
              </a:rPr>
              <a:t> </a:t>
            </a:r>
            <a:r>
              <a:rPr lang="en-US" sz="1100" dirty="0" err="1">
                <a:solidFill>
                  <a:schemeClr val="tx1"/>
                </a:solidFill>
                <a:latin typeface="OpenSymbol"/>
              </a:rPr>
              <a:t>acústica</a:t>
            </a:r>
            <a:r>
              <a:rPr lang="en-US" sz="1100" dirty="0">
                <a:solidFill>
                  <a:schemeClr val="tx1"/>
                </a:solidFill>
                <a:latin typeface="OpenSymbol"/>
              </a:rPr>
              <a:t> base.</a:t>
            </a:r>
            <a:endParaRPr lang="es-EC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ángulo 33">
                <a:extLst>
                  <a:ext uri="{FF2B5EF4-FFF2-40B4-BE49-F238E27FC236}">
                    <a16:creationId xmlns:a16="http://schemas.microsoft.com/office/drawing/2014/main" id="{CCE23D21-2D86-70C1-9008-367E889BD2EE}"/>
                  </a:ext>
                </a:extLst>
              </p:cNvPr>
              <p:cNvSpPr/>
              <p:nvPr/>
            </p:nvSpPr>
            <p:spPr>
              <a:xfrm>
                <a:off x="3399238" y="2590572"/>
                <a:ext cx="2129270" cy="920840"/>
              </a:xfrm>
              <a:prstGeom prst="rect">
                <a:avLst/>
              </a:prstGeom>
              <a:noFill/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100" b="1" dirty="0">
                    <a:solidFill>
                      <a:schemeClr val="tx1"/>
                    </a:solidFill>
                    <a:latin typeface="OpenSymbol"/>
                  </a:rPr>
                  <a:t>BETO</a:t>
                </a:r>
              </a:p>
              <a:p>
                <a:endParaRPr lang="en-US" sz="1100" dirty="0">
                  <a:solidFill>
                    <a:schemeClr val="tx1"/>
                  </a:solidFill>
                  <a:latin typeface="OpenSymbol"/>
                </a:endParaRPr>
              </a:p>
              <a:p>
                <a:r>
                  <a:rPr lang="es-MX" sz="1100" dirty="0">
                    <a:solidFill>
                      <a:schemeClr val="tx1"/>
                    </a:solidFill>
                    <a:latin typeface="OpenSymbol"/>
                  </a:rPr>
                  <a:t>Aporta el vector semántico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C" sz="11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C" sz="11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es-EC" sz="11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𝒔𝒆𝒎</m:t>
                        </m:r>
                      </m:sub>
                    </m:sSub>
                  </m:oMath>
                </a14:m>
                <a:r>
                  <a:rPr lang="es-MX" sz="1100" dirty="0">
                    <a:solidFill>
                      <a:schemeClr val="tx1"/>
                    </a:solidFill>
                    <a:latin typeface="OpenSymbol"/>
                  </a:rPr>
                  <a:t> para condicionar el modelo acústico.</a:t>
                </a:r>
                <a:endParaRPr lang="es-EC" dirty="0"/>
              </a:p>
            </p:txBody>
          </p:sp>
        </mc:Choice>
        <mc:Fallback xmlns="">
          <p:sp>
            <p:nvSpPr>
              <p:cNvPr id="34" name="Rectángulo 33">
                <a:extLst>
                  <a:ext uri="{FF2B5EF4-FFF2-40B4-BE49-F238E27FC236}">
                    <a16:creationId xmlns:a16="http://schemas.microsoft.com/office/drawing/2014/main" id="{CCE23D21-2D86-70C1-9008-367E889BD2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9238" y="2590572"/>
                <a:ext cx="2129270" cy="920840"/>
              </a:xfrm>
              <a:prstGeom prst="rect">
                <a:avLst/>
              </a:prstGeom>
              <a:blipFill>
                <a:blip r:embed="rId2"/>
                <a:stretch>
                  <a:fillRect b="-3871"/>
                </a:stretch>
              </a:blipFill>
              <a:ln>
                <a:solidFill>
                  <a:schemeClr val="bg2"/>
                </a:solidFill>
              </a:ln>
            </p:spPr>
            <p:txBody>
              <a:bodyPr/>
              <a:lstStyle/>
              <a:p>
                <a:r>
                  <a:rPr lang="es-EC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ectángulo 34">
            <a:extLst>
              <a:ext uri="{FF2B5EF4-FFF2-40B4-BE49-F238E27FC236}">
                <a16:creationId xmlns:a16="http://schemas.microsoft.com/office/drawing/2014/main" id="{7D6E09F3-46E6-5EF0-142C-326CBD40E5F6}"/>
              </a:ext>
            </a:extLst>
          </p:cNvPr>
          <p:cNvSpPr/>
          <p:nvPr/>
        </p:nvSpPr>
        <p:spPr>
          <a:xfrm>
            <a:off x="5853977" y="2590572"/>
            <a:ext cx="2129270" cy="92084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1" dirty="0" err="1">
                <a:solidFill>
                  <a:schemeClr val="tx1"/>
                </a:solidFill>
                <a:latin typeface="OpenSymbol"/>
              </a:rPr>
              <a:t>PitchDiffusion</a:t>
            </a:r>
            <a:endParaRPr lang="en-US" sz="1100" b="1" dirty="0">
              <a:solidFill>
                <a:schemeClr val="tx1"/>
              </a:solidFill>
              <a:latin typeface="OpenSymbol"/>
            </a:endParaRPr>
          </a:p>
          <a:p>
            <a:endParaRPr lang="en-US" sz="1100" dirty="0">
              <a:solidFill>
                <a:schemeClr val="tx1"/>
              </a:solidFill>
              <a:latin typeface="OpenSymbol"/>
            </a:endParaRPr>
          </a:p>
          <a:p>
            <a:r>
              <a:rPr lang="es-EC" sz="1100" dirty="0">
                <a:solidFill>
                  <a:schemeClr val="tx1"/>
                </a:solidFill>
                <a:latin typeface="OpenSymbol"/>
              </a:rPr>
              <a:t>Predice F0 por fonema mediante un proceso DDPM.</a:t>
            </a:r>
            <a:endParaRPr lang="es-EC" dirty="0"/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A0028C39-EAEE-6766-6133-D321B53C182B}"/>
              </a:ext>
            </a:extLst>
          </p:cNvPr>
          <p:cNvSpPr txBox="1"/>
          <p:nvPr/>
        </p:nvSpPr>
        <p:spPr>
          <a:xfrm>
            <a:off x="1298710" y="4112313"/>
            <a:ext cx="6136944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C" sz="1100" b="1" dirty="0">
                <a:solidFill>
                  <a:srgbClr val="FF0000"/>
                </a:solidFill>
                <a:latin typeface="OpenSymbol"/>
              </a:rPr>
              <a:t>NOTA</a:t>
            </a:r>
            <a:br>
              <a:rPr lang="es-EC" sz="1100" b="1" dirty="0">
                <a:latin typeface="OpenSymbol"/>
              </a:rPr>
            </a:br>
            <a:r>
              <a:rPr lang="es-MX" sz="1100" b="1" i="1" dirty="0">
                <a:latin typeface="OpenSymbol"/>
              </a:rPr>
              <a:t>MAS se usa únicamente durante el entrenamiento; en inferencia se utiliza el predictor de duración aprendido.</a:t>
            </a:r>
            <a:endParaRPr lang="es-EC" sz="1100" b="1" i="1" dirty="0">
              <a:latin typeface="OpenSymbol"/>
            </a:endParaRPr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C9C06248-E2DE-CA0E-A370-D21802E89B62}"/>
              </a:ext>
            </a:extLst>
          </p:cNvPr>
          <p:cNvSpPr/>
          <p:nvPr/>
        </p:nvSpPr>
        <p:spPr>
          <a:xfrm>
            <a:off x="714600" y="374502"/>
            <a:ext cx="7714800" cy="390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70000" lnSpcReduction="2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100" b="0" u="none" strike="noStrike" dirty="0" err="1">
                <a:solidFill>
                  <a:srgbClr val="0A0A0A"/>
                </a:solidFill>
                <a:effectLst/>
                <a:uFillTx/>
                <a:latin typeface="Golos Text"/>
              </a:rPr>
              <a:t>Flujo</a:t>
            </a:r>
            <a:r>
              <a:rPr lang="en-US" sz="3100" b="0" u="none" strike="noStrike" dirty="0">
                <a:solidFill>
                  <a:srgbClr val="0A0A0A"/>
                </a:solidFill>
                <a:effectLst/>
                <a:uFillTx/>
                <a:latin typeface="Golos Text"/>
              </a:rPr>
              <a:t> de </a:t>
            </a:r>
            <a:r>
              <a:rPr lang="en-US" sz="3100" b="0" u="none" strike="noStrike" dirty="0" err="1">
                <a:solidFill>
                  <a:srgbClr val="0A0A0A"/>
                </a:solidFill>
                <a:effectLst/>
                <a:uFillTx/>
                <a:latin typeface="Golos Text"/>
              </a:rPr>
              <a:t>inferencia</a:t>
            </a:r>
            <a:r>
              <a:rPr lang="en-US" sz="3100" b="0" u="none" strike="noStrike" dirty="0">
                <a:solidFill>
                  <a:srgbClr val="0A0A0A"/>
                </a:solidFill>
                <a:effectLst/>
                <a:uFillTx/>
                <a:latin typeface="Golos Text"/>
              </a:rPr>
              <a:t> del </a:t>
            </a:r>
            <a:r>
              <a:rPr lang="en-US" sz="3100" b="0" u="none" strike="noStrike" dirty="0" err="1">
                <a:solidFill>
                  <a:srgbClr val="0A0A0A"/>
                </a:solidFill>
                <a:effectLst/>
                <a:uFillTx/>
                <a:latin typeface="Golos Text"/>
              </a:rPr>
              <a:t>modelo</a:t>
            </a:r>
            <a:r>
              <a:rPr lang="en-US" sz="3100" b="0" u="none" strike="noStrike" dirty="0">
                <a:solidFill>
                  <a:srgbClr val="0A0A0A"/>
                </a:solidFill>
                <a:effectLst/>
                <a:uFillTx/>
                <a:latin typeface="Golos Text"/>
              </a:rPr>
              <a:t> </a:t>
            </a:r>
            <a:r>
              <a:rPr lang="en-US" sz="3100" b="0" u="none" strike="noStrike" dirty="0" err="1">
                <a:solidFill>
                  <a:srgbClr val="0A0A0A"/>
                </a:solidFill>
                <a:effectLst/>
                <a:uFillTx/>
                <a:latin typeface="Golos Text"/>
              </a:rPr>
              <a:t>propuesto</a:t>
            </a:r>
            <a:endParaRPr lang="en-US" sz="31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  <p:extLst>
      <p:ext uri="{BB962C8B-B14F-4D97-AF65-F5344CB8AC3E}">
        <p14:creationId xmlns:p14="http://schemas.microsoft.com/office/powerpoint/2010/main" val="2259481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3690EA-530A-2B3E-9CC5-10A23CD3B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ángulo 28">
            <a:extLst>
              <a:ext uri="{FF2B5EF4-FFF2-40B4-BE49-F238E27FC236}">
                <a16:creationId xmlns:a16="http://schemas.microsoft.com/office/drawing/2014/main" id="{565C757A-A061-4C29-5B7E-F672B70F68D2}"/>
              </a:ext>
            </a:extLst>
          </p:cNvPr>
          <p:cNvSpPr/>
          <p:nvPr/>
        </p:nvSpPr>
        <p:spPr>
          <a:xfrm>
            <a:off x="1300891" y="850119"/>
            <a:ext cx="7091393" cy="47990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s-MX" sz="1400" dirty="0">
                <a:latin typeface="OpenSymbol"/>
              </a:rPr>
              <a:t>El comando carga el </a:t>
            </a:r>
            <a:r>
              <a:rPr lang="es-MX" sz="1400" dirty="0" err="1">
                <a:latin typeface="OpenSymbol"/>
              </a:rPr>
              <a:t>checkpoint</a:t>
            </a:r>
            <a:r>
              <a:rPr lang="es-MX" sz="1400" dirty="0">
                <a:latin typeface="OpenSymbol"/>
              </a:rPr>
              <a:t> DDPM+BETO, procesa el texto y genera las salidas acústicas.</a:t>
            </a:r>
            <a:endParaRPr lang="en-US" sz="1400" dirty="0">
              <a:latin typeface="OpenSymbol"/>
            </a:endParaRPr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CC18CABB-2EBC-5589-E8F2-AB2D512BF985}"/>
              </a:ext>
            </a:extLst>
          </p:cNvPr>
          <p:cNvSpPr/>
          <p:nvPr/>
        </p:nvSpPr>
        <p:spPr>
          <a:xfrm>
            <a:off x="714600" y="374502"/>
            <a:ext cx="7714800" cy="390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70000" lnSpcReduction="2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100" b="0" u="none" strike="noStrike" dirty="0" err="1">
                <a:solidFill>
                  <a:srgbClr val="0A0A0A"/>
                </a:solidFill>
                <a:effectLst/>
                <a:uFillTx/>
                <a:latin typeface="Golos Text"/>
              </a:rPr>
              <a:t>Ejecución</a:t>
            </a:r>
            <a:r>
              <a:rPr lang="en-US" sz="3100" b="0" u="none" strike="noStrike" dirty="0">
                <a:solidFill>
                  <a:srgbClr val="0A0A0A"/>
                </a:solidFill>
                <a:effectLst/>
                <a:uFillTx/>
                <a:latin typeface="Golos Text"/>
              </a:rPr>
              <a:t> de </a:t>
            </a:r>
            <a:r>
              <a:rPr lang="en-US" sz="3100" b="0" u="none" strike="noStrike" dirty="0" err="1">
                <a:solidFill>
                  <a:srgbClr val="0A0A0A"/>
                </a:solidFill>
                <a:effectLst/>
                <a:uFillTx/>
                <a:latin typeface="Golos Text"/>
              </a:rPr>
              <a:t>inferencia</a:t>
            </a:r>
            <a:endParaRPr lang="en-US" sz="31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24D0CA6-B461-8151-FC5E-4ADF54652E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188" y="1563432"/>
            <a:ext cx="7714800" cy="2016635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31FE8133-05FA-D258-C81E-C7F0DD82FC58}"/>
              </a:ext>
            </a:extLst>
          </p:cNvPr>
          <p:cNvSpPr txBox="1"/>
          <p:nvPr/>
        </p:nvSpPr>
        <p:spPr>
          <a:xfrm>
            <a:off x="1300891" y="4005048"/>
            <a:ext cx="4578874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C" sz="1400" dirty="0">
                <a:latin typeface="OpenSymbol"/>
              </a:rPr>
              <a:t>Salida </a:t>
            </a:r>
            <a:r>
              <a:rPr lang="es-EC" sz="1400" dirty="0" err="1">
                <a:latin typeface="OpenSymbol"/>
              </a:rPr>
              <a:t>esperada:mel-espectrograma</a:t>
            </a:r>
            <a:r>
              <a:rPr lang="es-EC" sz="1400" dirty="0">
                <a:latin typeface="OpenSymbol"/>
              </a:rPr>
              <a:t> + audio .</a:t>
            </a:r>
            <a:r>
              <a:rPr lang="es-EC" sz="1400" dirty="0" err="1">
                <a:latin typeface="OpenSymbol"/>
              </a:rPr>
              <a:t>wav</a:t>
            </a:r>
            <a:endParaRPr lang="es-EC" sz="1400" dirty="0">
              <a:latin typeface="OpenSymbol"/>
            </a:endParaRPr>
          </a:p>
          <a:p>
            <a:br>
              <a:rPr lang="es-EC" dirty="0"/>
            </a:b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28412419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68C0B2-7196-6923-4BD0-F5F638120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ángulo 28">
            <a:extLst>
              <a:ext uri="{FF2B5EF4-FFF2-40B4-BE49-F238E27FC236}">
                <a16:creationId xmlns:a16="http://schemas.microsoft.com/office/drawing/2014/main" id="{781E1296-4934-0225-7B5D-2F654CD044AC}"/>
              </a:ext>
            </a:extLst>
          </p:cNvPr>
          <p:cNvSpPr/>
          <p:nvPr/>
        </p:nvSpPr>
        <p:spPr>
          <a:xfrm>
            <a:off x="1740901" y="1611719"/>
            <a:ext cx="1538561" cy="47990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s-MX" sz="1400" dirty="0">
                <a:latin typeface="OpenSymbol"/>
              </a:rPr>
              <a:t>Referencia real (GT)</a:t>
            </a:r>
            <a:endParaRPr lang="en-US" sz="1400" dirty="0">
              <a:latin typeface="OpenSymbol"/>
            </a:endParaRPr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0E9DEDF0-A270-643E-8D9C-D386A7D479D9}"/>
              </a:ext>
            </a:extLst>
          </p:cNvPr>
          <p:cNvSpPr/>
          <p:nvPr/>
        </p:nvSpPr>
        <p:spPr>
          <a:xfrm>
            <a:off x="714600" y="374502"/>
            <a:ext cx="7714800" cy="390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70000" lnSpcReduction="2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100" b="0" u="none" strike="noStrike" dirty="0">
                <a:solidFill>
                  <a:srgbClr val="0A0A0A"/>
                </a:solidFill>
                <a:effectLst/>
                <a:uFillTx/>
                <a:latin typeface="Golos Text"/>
              </a:rPr>
              <a:t>Salidas </a:t>
            </a:r>
            <a:r>
              <a:rPr lang="en-US" sz="3100" b="0" u="none" strike="noStrike" dirty="0" err="1">
                <a:solidFill>
                  <a:srgbClr val="0A0A0A"/>
                </a:solidFill>
                <a:effectLst/>
                <a:uFillTx/>
                <a:latin typeface="Golos Text"/>
              </a:rPr>
              <a:t>acústicas</a:t>
            </a:r>
            <a:r>
              <a:rPr lang="en-US" sz="3100" b="0" u="none" strike="noStrike" dirty="0">
                <a:solidFill>
                  <a:srgbClr val="0A0A0A"/>
                </a:solidFill>
                <a:effectLst/>
                <a:uFillTx/>
                <a:latin typeface="Golos Text"/>
              </a:rPr>
              <a:t> </a:t>
            </a:r>
            <a:r>
              <a:rPr lang="en-US" sz="3100" b="0" u="none" strike="noStrike" dirty="0" err="1">
                <a:solidFill>
                  <a:srgbClr val="0A0A0A"/>
                </a:solidFill>
                <a:effectLst/>
                <a:uFillTx/>
                <a:latin typeface="Golos Text"/>
              </a:rPr>
              <a:t>generadas</a:t>
            </a:r>
            <a:endParaRPr lang="en-US" sz="31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C309366-56F8-8A75-BF2B-5BCA722968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999" y="1955867"/>
            <a:ext cx="4166363" cy="1780073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7425A678-482C-0BE5-1C3A-8B0F92B82C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9296" y="1955868"/>
            <a:ext cx="4166359" cy="1780072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CEAA0A6E-460B-53C5-5F8A-CF0F07AD8FDF}"/>
              </a:ext>
            </a:extLst>
          </p:cNvPr>
          <p:cNvSpPr/>
          <p:nvPr/>
        </p:nvSpPr>
        <p:spPr>
          <a:xfrm>
            <a:off x="6003194" y="1611718"/>
            <a:ext cx="1538561" cy="47990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s-MX" sz="1400" dirty="0">
                <a:latin typeface="OpenSymbol"/>
              </a:rPr>
              <a:t>Salida DDPM+BETO</a:t>
            </a:r>
            <a:endParaRPr lang="en-US" sz="1400" dirty="0">
              <a:latin typeface="OpenSymbol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3BB1CBF6-EAB3-A7E2-E1F6-44DF218E4BBB}"/>
              </a:ext>
            </a:extLst>
          </p:cNvPr>
          <p:cNvSpPr txBox="1"/>
          <p:nvPr/>
        </p:nvSpPr>
        <p:spPr>
          <a:xfrm>
            <a:off x="673347" y="3735940"/>
            <a:ext cx="457887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C" sz="1400" dirty="0">
                <a:latin typeface="OpenSymbol"/>
              </a:rPr>
              <a:t>Mel-espectrograma de la señal real usada como </a:t>
            </a:r>
          </a:p>
          <a:p>
            <a:r>
              <a:rPr lang="es-EC" sz="1400" dirty="0">
                <a:latin typeface="OpenSymbol"/>
              </a:rPr>
              <a:t>referencia.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EC3CC04C-0DEF-D3FD-2E3A-2042314D01B6}"/>
              </a:ext>
            </a:extLst>
          </p:cNvPr>
          <p:cNvSpPr txBox="1"/>
          <p:nvPr/>
        </p:nvSpPr>
        <p:spPr>
          <a:xfrm>
            <a:off x="4839710" y="3735940"/>
            <a:ext cx="45788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400" dirty="0">
                <a:latin typeface="OpenSymbol"/>
              </a:rPr>
              <a:t>Mel-espectrograma generado por el modelo propuesto.</a:t>
            </a:r>
            <a:endParaRPr lang="es-EC" sz="1400" dirty="0">
              <a:latin typeface="OpenSymbol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60E82A6D-EA25-0F58-2133-EFA06C2B9F6B}"/>
              </a:ext>
            </a:extLst>
          </p:cNvPr>
          <p:cNvSpPr txBox="1"/>
          <p:nvPr/>
        </p:nvSpPr>
        <p:spPr>
          <a:xfrm>
            <a:off x="1054436" y="786318"/>
            <a:ext cx="726972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C" sz="1400" dirty="0">
                <a:latin typeface="OpenSymbol"/>
              </a:rPr>
              <a:t>La comparación visual permite observar la estructura espectral y la evolución temporal de la señal sintetizada</a:t>
            </a:r>
            <a:r>
              <a:rPr lang="es-EC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848896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D02CB9-585F-F3A0-72C8-270EB1605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ángulo 37">
            <a:extLst>
              <a:ext uri="{FF2B5EF4-FFF2-40B4-BE49-F238E27FC236}">
                <a16:creationId xmlns:a16="http://schemas.microsoft.com/office/drawing/2014/main" id="{EFD34F2C-E10D-920E-3774-870303212556}"/>
              </a:ext>
            </a:extLst>
          </p:cNvPr>
          <p:cNvSpPr/>
          <p:nvPr/>
        </p:nvSpPr>
        <p:spPr>
          <a:xfrm>
            <a:off x="714600" y="374502"/>
            <a:ext cx="7714800" cy="390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70000" lnSpcReduction="2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MX" sz="3100" b="0" u="none" strike="noStrike" dirty="0">
                <a:solidFill>
                  <a:srgbClr val="0A0A0A"/>
                </a:solidFill>
                <a:effectLst/>
                <a:uFillTx/>
                <a:latin typeface="Golos Text"/>
              </a:rPr>
              <a:t>Comparación del contorno de pitch (F0)</a:t>
            </a:r>
            <a:endParaRPr lang="en-US" sz="31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A641D6D1-40D2-E550-D61F-1F1D13E809AB}"/>
              </a:ext>
            </a:extLst>
          </p:cNvPr>
          <p:cNvSpPr txBox="1"/>
          <p:nvPr/>
        </p:nvSpPr>
        <p:spPr>
          <a:xfrm>
            <a:off x="1054436" y="764742"/>
            <a:ext cx="72697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400" dirty="0">
                <a:latin typeface="OpenSymbol"/>
              </a:rPr>
              <a:t>El contorno F0 permite evaluar si el modelo sigue la evolución tonal de la referencia.</a:t>
            </a:r>
            <a:endParaRPr lang="es-EC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6E246CA-D4BF-D022-7D15-D3711DBD04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5672" y="1181036"/>
            <a:ext cx="4312656" cy="3596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0404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8BA420-4F30-0789-8BAD-F6C005D69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ángulo 37">
            <a:extLst>
              <a:ext uri="{FF2B5EF4-FFF2-40B4-BE49-F238E27FC236}">
                <a16:creationId xmlns:a16="http://schemas.microsoft.com/office/drawing/2014/main" id="{9F9A3062-80BC-50F0-0FC7-C129E5660EE2}"/>
              </a:ext>
            </a:extLst>
          </p:cNvPr>
          <p:cNvSpPr/>
          <p:nvPr/>
        </p:nvSpPr>
        <p:spPr>
          <a:xfrm>
            <a:off x="714600" y="374502"/>
            <a:ext cx="7714800" cy="390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70000" lnSpcReduction="2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MX" sz="3100" b="0" u="none" strike="noStrike" dirty="0">
                <a:solidFill>
                  <a:srgbClr val="0A0A0A"/>
                </a:solidFill>
                <a:effectLst/>
                <a:uFillTx/>
                <a:latin typeface="Golos Text"/>
              </a:rPr>
              <a:t>Audios generados para evaluación</a:t>
            </a:r>
            <a:endParaRPr lang="en-US" sz="31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2" name="audio1">
            <a:hlinkClick r:id="" action="ppaction://media"/>
            <a:extLst>
              <a:ext uri="{FF2B5EF4-FFF2-40B4-BE49-F238E27FC236}">
                <a16:creationId xmlns:a16="http://schemas.microsoft.com/office/drawing/2014/main" id="{3F3DA158-85BA-49C3-82A7-05AA566AEC7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4267200" y="1670283"/>
            <a:ext cx="609600" cy="609600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B687290B-454C-BC2D-BB05-57454B45C680}"/>
              </a:ext>
            </a:extLst>
          </p:cNvPr>
          <p:cNvSpPr/>
          <p:nvPr/>
        </p:nvSpPr>
        <p:spPr>
          <a:xfrm>
            <a:off x="546941" y="835443"/>
            <a:ext cx="8050118" cy="834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s-MX" sz="1400" dirty="0">
                <a:latin typeface="OpenSymbol"/>
              </a:rPr>
              <a:t>Hoy en la tarde saqué mi tarjeta para bicicleta urbana. La bicicleta urbana se ha convertido en uno de los medios de transporte mejores de la ciudad.</a:t>
            </a:r>
            <a:endParaRPr lang="en-US" sz="1400" dirty="0">
              <a:latin typeface="OpenSymbol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5F07F7F-0AD2-EA38-9629-BA428468F67D}"/>
              </a:ext>
            </a:extLst>
          </p:cNvPr>
          <p:cNvSpPr/>
          <p:nvPr/>
        </p:nvSpPr>
        <p:spPr>
          <a:xfrm>
            <a:off x="546941" y="2505123"/>
            <a:ext cx="8050118" cy="834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s-MX" sz="1400" dirty="0">
                <a:latin typeface="OpenSymbol"/>
              </a:rPr>
              <a:t>Natalia, ¿quisiera viajar a Madrid en los próximos días? Hay un paquete en promoción de dos mil dólares por semana. </a:t>
            </a:r>
            <a:endParaRPr lang="en-US" sz="1400" dirty="0">
              <a:latin typeface="OpenSymbol"/>
            </a:endParaRPr>
          </a:p>
        </p:txBody>
      </p:sp>
      <p:pic>
        <p:nvPicPr>
          <p:cNvPr id="6" name="audio2">
            <a:hlinkClick r:id="" action="ppaction://media"/>
            <a:extLst>
              <a:ext uri="{FF2B5EF4-FFF2-40B4-BE49-F238E27FC236}">
                <a16:creationId xmlns:a16="http://schemas.microsoft.com/office/drawing/2014/main" id="{7E899845-5291-7D42-06EF-A42E47459AAA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4267200" y="3339963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1943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499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926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Formulating a Research Problem for University Students by Slidesgo">
  <a:themeElements>
    <a:clrScheme name="Simple Light">
      <a:dk1>
        <a:srgbClr val="0A0A0A"/>
      </a:dk1>
      <a:lt1>
        <a:srgbClr val="F9F9F9"/>
      </a:lt1>
      <a:dk2>
        <a:srgbClr val="DDDDDD"/>
      </a:dk2>
      <a:lt2>
        <a:srgbClr val="B3B4B3"/>
      </a:lt2>
      <a:accent1>
        <a:srgbClr val="878887"/>
      </a:accent1>
      <a:accent2>
        <a:srgbClr val="5F6160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A0A0A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1049</TotalTime>
  <Words>492</Words>
  <Application>Microsoft Office PowerPoint</Application>
  <PresentationFormat>Presentación en pantalla (16:9)</PresentationFormat>
  <Paragraphs>82</Paragraphs>
  <Slides>9</Slides>
  <Notes>0</Notes>
  <HiddenSlides>0</HiddenSlides>
  <MMClips>2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7" baseType="lpstr">
      <vt:lpstr>Arial</vt:lpstr>
      <vt:lpstr>Cambria Math</vt:lpstr>
      <vt:lpstr>Commissioner</vt:lpstr>
      <vt:lpstr>Golos Text</vt:lpstr>
      <vt:lpstr>OpenSymbol</vt:lpstr>
      <vt:lpstr>Symbol</vt:lpstr>
      <vt:lpstr>Wingdings</vt:lpstr>
      <vt:lpstr>Formulating a Research Problem for University Students by Slidesgo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John Vacacela</dc:creator>
  <cp:lastModifiedBy>John Vacacela</cp:lastModifiedBy>
  <cp:revision>3</cp:revision>
  <dcterms:modified xsi:type="dcterms:W3CDTF">2026-06-10T01:13:38Z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2026-06-09T04:26:11Z</dcterms:created>
  <dc:creator>Unknown Creator</dc:creator>
  <dc:description/>
  <dc:language>en-US</dc:language>
  <cp:lastModifiedBy>Unknown Creator</cp:lastModifiedBy>
  <dcterms:modified xsi:type="dcterms:W3CDTF">2026-06-09T04:26:11Z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